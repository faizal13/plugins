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A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01E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2926080" cy="320040"/>
          </a:xfrm>
          <a:prstGeom prst="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48640"/>
            <a:ext cx="109728" cy="109728"/>
          </a:xfrm>
          <a:prstGeom prst="oval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57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</a:rPr>
              <a:t>Executive Brief  ·  Architecture &amp;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IPA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Digitalising In-Principle Approval for Mortgage Lending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</a:rPr>
              <a:t>A fully digital mortgage pre-approval platform that replaces today's manual, email-driven IPA process — enabling customers to get an In-Principle Approval in minutes, while freeing bank teams to focus on converting IPAs into mortgages.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56032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"Digital with a Human Touch"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34840"/>
            <a:ext cx="91440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Retail Banking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Business Unit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+ Mobile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4773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Platforms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AI-Powered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4773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</a:rPr>
              <a:t>Design, Dev &amp; Delivery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1 / 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28600"/>
            <a:ext cx="320040" cy="320040"/>
          </a:xfrm>
          <a:prstGeom prst="oval">
            <a:avLst/>
          </a:prstGeom>
          <a:solidFill>
            <a:srgbClr val="E01E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228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1E00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457200" cy="457200"/>
          </a:xfrm>
          <a:prstGeom prst="rect">
            <a:avLst>
              <a:gd name="adj" fmla="val 20000"/>
            </a:avLst>
          </a:prstGeom>
          <a:solidFill>
            <a:srgbClr val="E6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7282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66CC"/>
                </a:solidFill>
              </a:rPr>
              <a:t>FOR THE CUSTOMER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6B6B78"/>
                </a:solidFill>
              </a:rPr>
              <a:t>Customers face a fully manual, email-driven IPA process with no document validations, constant back-and-forth with sales, and zero real-time visibility — making mortgage pre-approval slow and frustrating.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39312"/>
            <a:ext cx="91440" cy="91440"/>
          </a:xfrm>
          <a:prstGeom prst="oval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3566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No digital application channel — email + branch only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950208"/>
            <a:ext cx="91440" cy="91440"/>
          </a:xfrm>
          <a:prstGeom prst="oval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877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Zero real-time status visibility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261104"/>
            <a:ext cx="91440" cy="91440"/>
          </a:xfrm>
          <a:prstGeom prst="oval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4187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Multiple document re-submissions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554480"/>
            <a:ext cx="411480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1691640"/>
            <a:ext cx="457200" cy="457200"/>
          </a:xfrm>
          <a:prstGeom prst="rect">
            <a:avLst>
              <a:gd name="adj" fmla="val 20000"/>
            </a:avLst>
          </a:prstGeom>
          <a:solidFill>
            <a:srgbClr val="E6F5E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72821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8A3D"/>
                </a:solidFill>
              </a:rPr>
              <a:t>FOR THE BANK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00600" y="23317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6B6B78"/>
                </a:solidFill>
              </a:rPr>
              <a:t>Only 30% of IPAs convert to mortgages, yet each takes 45–60 min across Sales and Underwriting with manual AECB checks and no validations — effort that should go toward final conversions and Central Bank compliance.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846320" y="3639312"/>
            <a:ext cx="91440" cy="91440"/>
          </a:xfrm>
          <a:prstGeom prst="oval">
            <a:avLst/>
          </a:prstGeom>
          <a:solidFill>
            <a:srgbClr val="0A8A3D"/>
          </a:solidFill>
          <a:ln w="12700">
            <a:solidFill>
              <a:srgbClr val="0A8A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10912" y="3566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45–60 min per IPA with manual AECB checks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46320" y="3950208"/>
            <a:ext cx="91440" cy="91440"/>
          </a:xfrm>
          <a:prstGeom prst="oval">
            <a:avLst/>
          </a:prstGeom>
          <a:solidFill>
            <a:srgbClr val="0A8A3D"/>
          </a:solidFill>
          <a:ln w="12700">
            <a:solidFill>
              <a:srgbClr val="0A8A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10912" y="38770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Only 30% IPA-to-mortgage conversion rate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6320" y="4261104"/>
            <a:ext cx="91440" cy="91440"/>
          </a:xfrm>
          <a:prstGeom prst="oval">
            <a:avLst/>
          </a:prstGeom>
          <a:solidFill>
            <a:srgbClr val="0A8A3D"/>
          </a:solidFill>
          <a:ln w="12700">
            <a:solidFill>
              <a:srgbClr val="0A8A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10912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No audit trail for Central Bank compliance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28600"/>
            <a:ext cx="320040" cy="320040"/>
          </a:xfrm>
          <a:prstGeom prst="oval">
            <a:avLst/>
          </a:prstGeom>
          <a:solidFill>
            <a:srgbClr val="E01E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228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1E00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Digital Mortgage IPA Solves This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8"/>
                </a:solidFill>
              </a:rPr>
              <a:t>A guided digital journey that replaces every manual step with automated, validated workflows.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60520" cy="868680"/>
          </a:xfrm>
          <a:prstGeom prst="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2057400"/>
            <a:ext cx="438912" cy="438912"/>
          </a:xfrm>
          <a:prstGeom prst="rect">
            <a:avLst>
              <a:gd name="adj" fmla="val 20833"/>
            </a:avLst>
          </a:prstGeom>
          <a:solidFill>
            <a:srgbClr val="E6F0F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9397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984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Real-Time AECB Integration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4128" y="22768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78"/>
                </a:solidFill>
              </a:rPr>
              <a:t>Instant credit bureau check with consent — no manual keying into AECB calculator.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874520"/>
            <a:ext cx="4160520" cy="868680"/>
          </a:xfrm>
          <a:prstGeom prst="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64608" y="2057400"/>
            <a:ext cx="438912" cy="438912"/>
          </a:xfrm>
          <a:prstGeom prst="rect">
            <a:avLst>
              <a:gd name="adj" fmla="val 20833"/>
            </a:avLst>
          </a:prstGeom>
          <a:solidFill>
            <a:srgbClr val="E6F5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09397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984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Built-In Document Validations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13248" y="22768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78"/>
                </a:solidFill>
              </a:rPr>
              <a:t>File type, size, and completeness checks at upload — eliminates back-and-forth.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160520" cy="868680"/>
          </a:xfrm>
          <a:prstGeom prst="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" y="3063240"/>
            <a:ext cx="438912" cy="438912"/>
          </a:xfrm>
          <a:prstGeom prst="rect">
            <a:avLst>
              <a:gd name="adj" fmla="val 20833"/>
            </a:avLst>
          </a:prstGeom>
          <a:solidFill>
            <a:srgbClr val="FEE2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09981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24128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Automated Eligibility Engine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24128" y="32826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78"/>
                </a:solidFill>
              </a:rPr>
              <a:t>Instant IPA decision based on income, liabilities, and AECB data — days to minutes.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160520" cy="868680"/>
          </a:xfrm>
          <a:prstGeom prst="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64608" y="3063240"/>
            <a:ext cx="438912" cy="438912"/>
          </a:xfrm>
          <a:prstGeom prst="rect">
            <a:avLst>
              <a:gd name="adj" fmla="val 20833"/>
            </a:avLst>
          </a:prstGeom>
          <a:solidFill>
            <a:srgbClr val="F3E8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099816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13248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Customer Self-Service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13248" y="32826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78"/>
                </a:solidFill>
              </a:rPr>
              <a:t>Customers complete the entire IPA journey on their phone — no branch visits.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3886200"/>
            <a:ext cx="4160520" cy="868680"/>
          </a:xfrm>
          <a:prstGeom prst="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" y="4069080"/>
            <a:ext cx="438912" cy="438912"/>
          </a:xfrm>
          <a:prstGeom prst="rect">
            <a:avLst>
              <a:gd name="adj" fmla="val 20833"/>
            </a:avLst>
          </a:prstGeom>
          <a:solidFill>
            <a:srgbClr val="FEF3C7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10565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24128" y="3995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Central Bank Compliance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24128" y="42885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78"/>
                </a:solidFill>
              </a:rPr>
              <a:t>KFS, consent management, and CBUAE mortgage regulations built into every step.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754880" y="3886200"/>
            <a:ext cx="4160520" cy="868680"/>
          </a:xfrm>
          <a:prstGeom prst="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864608" y="4069080"/>
            <a:ext cx="438912" cy="438912"/>
          </a:xfrm>
          <a:prstGeom prst="rect">
            <a:avLst>
              <a:gd name="adj" fmla="val 20833"/>
            </a:avLst>
          </a:prstGeom>
          <a:solidFill>
            <a:srgbClr val="E6F0F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4105656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413248" y="3995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Channel Partner Portal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13248" y="42885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78"/>
                </a:solidFill>
              </a:rPr>
              <a:t>Brokers, Direct Sales send invites via dashboard — customer gets an SMS to start.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28600"/>
            <a:ext cx="320040" cy="320040"/>
          </a:xfrm>
          <a:prstGeom prst="oval">
            <a:avLst/>
          </a:prstGeom>
          <a:solidFill>
            <a:srgbClr val="E01E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228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1E00"/>
                </a:solidFill>
              </a:rPr>
              <a:t>PROJECT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Every Phase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8"/>
                </a:solidFill>
              </a:rPr>
              <a:t>From Requirement to Production — AI accelerates every step of our delivery.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128016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BRD → Design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438912" cy="438912"/>
          </a:xfrm>
          <a:prstGeom prst="rect">
            <a:avLst>
              <a:gd name="adj" fmla="val 20833"/>
            </a:avLst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BRD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60704" y="2670048"/>
            <a:ext cx="640080" cy="201168"/>
          </a:xfrm>
          <a:prstGeom prst="rect">
            <a:avLst>
              <a:gd name="adj" fmla="val 45455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2670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1200"/>
                </a:solidFill>
              </a:rPr>
              <a:t>AI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67712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BA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2212848"/>
            <a:ext cx="438912" cy="438912"/>
          </a:xfrm>
          <a:prstGeom prst="rect">
            <a:avLst>
              <a:gd name="adj" fmla="val 2083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072384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Journey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Mapping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72384" y="2670048"/>
            <a:ext cx="640080" cy="201168"/>
          </a:xfrm>
          <a:prstGeom prst="rect">
            <a:avLst>
              <a:gd name="adj" fmla="val 45455"/>
            </a:avLst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3072384" y="2670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1200"/>
                </a:solidFill>
              </a:rPr>
              <a:t>AI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79392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BA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212848"/>
            <a:ext cx="438912" cy="438912"/>
          </a:xfrm>
          <a:prstGeom prst="rect">
            <a:avLst>
              <a:gd name="adj" fmla="val 20833"/>
            </a:avLst>
          </a:prstGeom>
          <a:solidFill>
            <a:srgbClr val="0A8A3D"/>
          </a:solidFill>
          <a:ln/>
        </p:spPr>
      </p:sp>
      <p:sp>
        <p:nvSpPr>
          <p:cNvPr id="20" name="Text 18"/>
          <p:cNvSpPr/>
          <p:nvPr/>
        </p:nvSpPr>
        <p:spPr>
          <a:xfrm>
            <a:off x="5084064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47 Figma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Screens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84064" y="2670048"/>
            <a:ext cx="640080" cy="201168"/>
          </a:xfrm>
          <a:prstGeom prst="rect">
            <a:avLst>
              <a:gd name="adj" fmla="val 45455"/>
            </a:avLst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5084064" y="2670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A1200"/>
                </a:solidFill>
              </a:rPr>
              <a:t>AI-Gen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91072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BA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2212848"/>
            <a:ext cx="438912" cy="438912"/>
          </a:xfrm>
          <a:prstGeom prst="rect">
            <a:avLst>
              <a:gd name="adj" fmla="val 20833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7095744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Design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1A1A"/>
                </a:solidFill>
              </a:rPr>
              <a:t>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95744" y="2670048"/>
            <a:ext cx="640080" cy="201168"/>
          </a:xfrm>
          <a:prstGeom prst="rect">
            <a:avLst>
              <a:gd name="adj" fmla="val 45455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7095744" y="2670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Human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841248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73552"/>
            <a:ext cx="384048" cy="384048"/>
          </a:xfrm>
          <a:prstGeom prst="oval">
            <a:avLst/>
          </a:prstGeom>
          <a:solidFill>
            <a:srgbClr val="AA12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12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User Stories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9536" y="3438144"/>
            <a:ext cx="1188720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1408" y="3273552"/>
            <a:ext cx="384048" cy="384048"/>
          </a:xfrm>
          <a:prstGeom prst="oval">
            <a:avLst/>
          </a:prstGeom>
          <a:solidFill>
            <a:srgbClr val="AA12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38528" y="3712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Development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23744" y="3438144"/>
            <a:ext cx="1188720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85616" y="3273552"/>
            <a:ext cx="384048" cy="384048"/>
          </a:xfrm>
          <a:prstGeom prst="oval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3712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Code Review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87952" y="3438144"/>
            <a:ext cx="1188720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9824" y="3273552"/>
            <a:ext cx="384048" cy="384048"/>
          </a:xfrm>
          <a:prstGeom prst="oval">
            <a:avLst/>
          </a:prstGeom>
          <a:solidFill>
            <a:srgbClr val="AA12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66944" y="3712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Testing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52160" y="3438144"/>
            <a:ext cx="1188720" cy="27432"/>
          </a:xfrm>
          <a:prstGeom prst="rect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3273552"/>
            <a:ext cx="384048" cy="384048"/>
          </a:xfrm>
          <a:prstGeom prst="oval">
            <a:avLst/>
          </a:prstGeom>
          <a:solidFill>
            <a:srgbClr val="AA12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37124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Delivery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297680"/>
            <a:ext cx="196596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1E00"/>
                </a:solidFill>
              </a:rPr>
              <a:t>47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8"/>
                </a:solidFill>
              </a:rPr>
              <a:t>Figma Screens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14600" y="4297680"/>
            <a:ext cx="196596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0604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1E00"/>
                </a:solidFill>
              </a:rPr>
              <a:t>20+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2606040" y="46634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8"/>
                </a:solidFill>
              </a:rPr>
              <a:t>AI Agents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297680"/>
            <a:ext cx="196596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5488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1E00"/>
                </a:solidFill>
              </a:rPr>
              <a:t>&lt;1.5h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754880" y="46634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8"/>
                </a:solidFill>
              </a:rPr>
              <a:t>Story Turnaround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2280" y="4297680"/>
            <a:ext cx="196596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90372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1E00"/>
                </a:solidFill>
              </a:rPr>
              <a:t>50→85%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903720" y="46634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8"/>
                </a:solidFill>
              </a:rPr>
              <a:t>Code Accuracy S1→S4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28600"/>
            <a:ext cx="320040" cy="320040"/>
          </a:xfrm>
          <a:prstGeom prst="oval">
            <a:avLst/>
          </a:prstGeom>
          <a:solidFill>
            <a:srgbClr val="E01E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228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1E00"/>
                </a:solidFill>
              </a:rPr>
              <a:t>AUTONOMOUS SDLC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AI Agents 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8"/>
                </a:solidFill>
              </a:rPr>
              <a:t>Six purpose-built agents fire at trigger points. One human gate preserves engineering judgment.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1389888"/>
          </a:xfrm>
          <a:prstGeom prst="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938528"/>
            <a:ext cx="329184" cy="329184"/>
          </a:xfrm>
          <a:prstGeom prst="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Story Analyzer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" y="21214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6CC"/>
                </a:solidFill>
              </a:rPr>
              <a:t>Paste story ID in Copilot Chat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3591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Reads ADO story &amp; ACs, classifies service, personas, API contract, test cases. Creates structured GitHub Issue.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2907792"/>
            <a:ext cx="512064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290779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ADO MCP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07008" y="2907792"/>
            <a:ext cx="676656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1225296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GitHub MCP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64792" y="2907792"/>
            <a:ext cx="566928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2907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~3–5 min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0" y="1828800"/>
            <a:ext cx="2697480" cy="1389888"/>
          </a:xfrm>
          <a:prstGeom prst="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1938528"/>
            <a:ext cx="329184" cy="329184"/>
          </a:xfrm>
          <a:prstGeom prst="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Coding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12464" y="21214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6CC"/>
                </a:solidFill>
              </a:rPr>
              <a:t>Triggered by ai-generated label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0128" y="23591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Checks out branch, generates full stack: Flyway, JPA entities, service, controller, OpenAPI, tests. Raises Draft PR.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0128" y="2907792"/>
            <a:ext cx="676656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Full stack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71416" y="2907792"/>
            <a:ext cx="1060704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28" name="Text 26"/>
          <p:cNvSpPr/>
          <p:nvPr/>
        </p:nvSpPr>
        <p:spPr>
          <a:xfrm>
            <a:off x="4489704" y="29077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Copilot Workspace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64608" y="2907792"/>
            <a:ext cx="676656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~10–15 min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80760" y="1828800"/>
            <a:ext cx="2697480" cy="1389888"/>
          </a:xfrm>
          <a:prstGeom prst="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0488" y="1938528"/>
            <a:ext cx="329184" cy="329184"/>
          </a:xfrm>
          <a:prstGeom prst="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92824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AI Code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92824" y="21214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6CC"/>
                </a:solidFill>
              </a:rPr>
              <a:t>Triggered by PR opened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90488" y="23591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Reviews diff against instructions. Posts inline comments: BigDecimal violations, missing AC tests, persona gaps.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0488" y="2907792"/>
            <a:ext cx="896112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38" name="Text 36"/>
          <p:cNvSpPr/>
          <p:nvPr/>
        </p:nvSpPr>
        <p:spPr>
          <a:xfrm>
            <a:off x="6208776" y="290779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GitHub Actions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42048" y="2907792"/>
            <a:ext cx="950976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40" name="Text 38"/>
          <p:cNvSpPr/>
          <p:nvPr/>
        </p:nvSpPr>
        <p:spPr>
          <a:xfrm>
            <a:off x="7260336" y="2907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Inline comments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525512" y="2907792"/>
            <a:ext cx="566928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2907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~3–5 min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3364992"/>
            <a:ext cx="2697480" cy="1389888"/>
          </a:xfrm>
          <a:prstGeom prst="rect">
            <a:avLst>
              <a:gd name="adj" fmla="val 7895"/>
            </a:avLst>
          </a:prstGeom>
          <a:solidFill>
            <a:srgbClr val="FFFD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9768" y="3474720"/>
            <a:ext cx="329184" cy="329184"/>
          </a:xfrm>
          <a:prstGeom prst="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45" name="Text 43"/>
          <p:cNvSpPr/>
          <p:nvPr/>
        </p:nvSpPr>
        <p:spPr>
          <a:xfrm>
            <a:off x="42976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🧑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2104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Human Gate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" y="36576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</a:rPr>
              <a:t>Your engineering judgment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29768" y="38953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Review generated code for business logic, address AI review comments, run tests locally, approve &amp; merge.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9768" y="4443984"/>
            <a:ext cx="1225296" cy="201168"/>
          </a:xfrm>
          <a:prstGeom prst="rect">
            <a:avLst>
              <a:gd name="adj" fmla="val 22727"/>
            </a:avLst>
          </a:prstGeom>
          <a:solidFill>
            <a:srgbClr val="FEF3C7"/>
          </a:solidFill>
          <a:ln/>
        </p:spPr>
      </p:sp>
      <p:sp>
        <p:nvSpPr>
          <p:cNvPr id="50" name="Text 48"/>
          <p:cNvSpPr/>
          <p:nvPr/>
        </p:nvSpPr>
        <p:spPr>
          <a:xfrm>
            <a:off x="448056" y="4443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Business logic check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042416" y="4443984"/>
            <a:ext cx="512064" cy="201168"/>
          </a:xfrm>
          <a:prstGeom prst="rect">
            <a:avLst>
              <a:gd name="adj" fmla="val 22727"/>
            </a:avLst>
          </a:prstGeom>
          <a:solidFill>
            <a:srgbClr val="FEF3C7"/>
          </a:solidFill>
          <a:ln/>
        </p:spPr>
      </p:sp>
      <p:sp>
        <p:nvSpPr>
          <p:cNvPr id="52" name="Text 50"/>
          <p:cNvSpPr/>
          <p:nvPr/>
        </p:nvSpPr>
        <p:spPr>
          <a:xfrm>
            <a:off x="1060704" y="44439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~20 min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0" y="3364992"/>
            <a:ext cx="2697480" cy="1389888"/>
          </a:xfrm>
          <a:prstGeom prst="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310128" y="3474720"/>
            <a:ext cx="329184" cy="329184"/>
          </a:xfrm>
          <a:prstGeom prst="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331012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05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712464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Learning Agent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712464" y="36576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6CC"/>
                </a:solidFill>
              </a:rPr>
              <a:t>Triggered by PR merge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10128" y="38953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Extracts coding patterns from approved PRs, scores confidence, promotes to .copilot/skills/ when ≥ 85%.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310128" y="4443984"/>
            <a:ext cx="841248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60" name="Text 58"/>
          <p:cNvSpPr/>
          <p:nvPr/>
        </p:nvSpPr>
        <p:spPr>
          <a:xfrm>
            <a:off x="3328416" y="44439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Self-learning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471416" y="4443984"/>
            <a:ext cx="1060704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62" name="Text 60"/>
          <p:cNvSpPr/>
          <p:nvPr/>
        </p:nvSpPr>
        <p:spPr>
          <a:xfrm>
            <a:off x="4489704" y="44439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GitHub Models API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45152" y="4443984"/>
            <a:ext cx="566928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64" name="Text 62"/>
          <p:cNvSpPr/>
          <p:nvPr/>
        </p:nvSpPr>
        <p:spPr>
          <a:xfrm>
            <a:off x="4663440" y="44439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~2–3 min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80760" y="3364992"/>
            <a:ext cx="2697480" cy="1389888"/>
          </a:xfrm>
          <a:prstGeom prst="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90488" y="3474720"/>
            <a:ext cx="329184" cy="329184"/>
          </a:xfrm>
          <a:prstGeom prst="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67" name="Text 65"/>
          <p:cNvSpPr/>
          <p:nvPr/>
        </p:nvSpPr>
        <p:spPr>
          <a:xfrm>
            <a:off x="619048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06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592824" y="34564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ADO Sync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92824" y="36576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6CC"/>
                </a:solidFill>
              </a:rPr>
              <a:t>Triggered by push to main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190488" y="38953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Extracts ADO story ID from commit, moves to Done, links production commit. Full traceability.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190488" y="4443984"/>
            <a:ext cx="786384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72" name="Text 70"/>
          <p:cNvSpPr/>
          <p:nvPr/>
        </p:nvSpPr>
        <p:spPr>
          <a:xfrm>
            <a:off x="6208776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ADO REST API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967728" y="4443984"/>
            <a:ext cx="676656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74" name="Text 72"/>
          <p:cNvSpPr/>
          <p:nvPr/>
        </p:nvSpPr>
        <p:spPr>
          <a:xfrm>
            <a:off x="6986016" y="4443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Auto-close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06056" y="4443984"/>
            <a:ext cx="457200" cy="201168"/>
          </a:xfrm>
          <a:prstGeom prst="rect">
            <a:avLst>
              <a:gd name="adj" fmla="val 22727"/>
            </a:avLst>
          </a:prstGeom>
          <a:solidFill>
            <a:srgbClr val="E6F0FA"/>
          </a:solidFill>
          <a:ln/>
        </p:spPr>
      </p:sp>
      <p:sp>
        <p:nvSpPr>
          <p:cNvPr id="76" name="Text 74"/>
          <p:cNvSpPr/>
          <p:nvPr/>
        </p:nvSpPr>
        <p:spPr>
          <a:xfrm>
            <a:off x="7324344" y="44439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</a:rPr>
              <a:t>~1 min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28600"/>
            <a:ext cx="320040" cy="320040"/>
          </a:xfrm>
          <a:prstGeom prst="oval">
            <a:avLst/>
          </a:prstGeom>
          <a:solidFill>
            <a:srgbClr val="E01E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228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1E00"/>
                </a:solidFill>
              </a:rPr>
              <a:t>DELIVERY 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&amp; How Long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8"/>
                </a:solidFill>
              </a:rPr>
              <a:t>End-to-end per story — from BRD to production.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8503920" cy="3063240"/>
          </a:xfrm>
          <a:prstGeom prst="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85039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ADCFC"/>
                </a:solidFill>
              </a:rPr>
              <a:t>Phase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ADCFC"/>
                </a:solidFill>
              </a:rPr>
              <a:t>Actor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0" y="1783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ADCFC"/>
                </a:solidFill>
              </a:rPr>
              <a:t>Time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ADCFC"/>
                </a:solidFill>
              </a:rPr>
              <a:t>How AI Is Used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8503920" cy="2834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21408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BRD analysis &amp; journey mapping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12140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Architect + Dev + AI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0" y="212140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2–3 hrs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212140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AI extracts personas, business rules from BRD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404872"/>
            <a:ext cx="85039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40487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Solution design &amp;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40487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Architect + AI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0" y="240487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3–4 hrs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404872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AI-assisted architecture, API contracts, state machines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688336"/>
            <a:ext cx="8503920" cy="2834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688336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Figma screen generation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268833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Developer + AI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0" y="268833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4–6 hrs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688336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47 screens via Copilot + Figma MCP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971800"/>
            <a:ext cx="8503920" cy="283464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971800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Design review &amp; remediation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297180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UX + Business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0" y="297180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2–3 hrs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971800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Human review — AI remediates feedback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255264"/>
            <a:ext cx="8503920" cy="2834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255264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Story Analyzer (Agent 1)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325526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AI Agent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03520" y="325526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3–5 min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3255264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Full spec: personas, state machine, API, tests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538728"/>
            <a:ext cx="85039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538728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Code generation (Agent 2)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353872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AI Agent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3520" y="353872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10–15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35387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Full stack: entity, service, controller, tests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822192"/>
            <a:ext cx="8503920" cy="2834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82219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AI code review (Agent 3)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0" y="382219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AI Agent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03520" y="382219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3–5 min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3822192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Inline comments before human opens PR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4105656"/>
            <a:ext cx="8503920" cy="283464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105656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Human gate — review &amp; approve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74720" y="410565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Developer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03520" y="410565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20–40 min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4105656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Engineering judgment — drops to ~15 min by Sprint 4+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4389120"/>
            <a:ext cx="8503920" cy="28346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389120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Learning + ADO Sync (Agents 5–6)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74720" y="438912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AI Agents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03520" y="43891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</a:rPr>
              <a:t>3 min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0" y="4389120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8"/>
                </a:solidFill>
              </a:rPr>
              <a:t>Patterns extracted, ADO story auto-closed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4672584"/>
            <a:ext cx="8503920" cy="320040"/>
          </a:xfrm>
          <a:prstGeom prst="rect">
            <a:avLst/>
          </a:prstGeom>
          <a:solidFill>
            <a:srgbClr val="E6F5EC"/>
          </a:solidFill>
          <a:ln/>
        </p:spPr>
      </p:sp>
      <p:sp>
        <p:nvSpPr>
          <p:cNvPr id="59" name="Text 57"/>
          <p:cNvSpPr/>
          <p:nvPr/>
        </p:nvSpPr>
        <p:spPr>
          <a:xfrm>
            <a:off x="411480" y="46725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3D"/>
                </a:solidFill>
              </a:rPr>
              <a:t>Developer active time per story (coding phase)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03520" y="46725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3D"/>
                </a:solidFill>
              </a:rPr>
              <a:t>~25–45 min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17920" y="46725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A3D"/>
                </a:solidFill>
              </a:rPr>
              <a:t>vs. 1–2 days of manual coding today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28600"/>
            <a:ext cx="320040" cy="320040"/>
          </a:xfrm>
          <a:prstGeom prst="oval">
            <a:avLst/>
          </a:prstGeom>
          <a:solidFill>
            <a:srgbClr val="E01E00"/>
          </a:solidFill>
          <a:ln w="12700">
            <a:solidFill>
              <a:srgbClr val="E01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228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1E00"/>
                </a:solidFill>
              </a:rPr>
              <a:t>CONTINUOUS IMPROVEMENT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Gets Smarter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8"/>
                </a:solidFill>
              </a:rPr>
              <a:t>Every merged PR feeds the Learning Agent. Confidence builds until the Coding Agent generates code that looks like your team wrote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965960" cy="1325880"/>
          </a:xfrm>
          <a:prstGeom prst="rect">
            <a:avLst>
              <a:gd name="adj" fmla="val 8276"/>
            </a:avLst>
          </a:prstGeom>
          <a:solidFill>
            <a:srgbClr val="EBF5FB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Story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1E00"/>
                </a:solidFill>
              </a:rPr>
              <a:t>50–55%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Instincts created — agent learning your patterns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828800"/>
            <a:ext cx="1965960" cy="1325880"/>
          </a:xfrm>
          <a:prstGeom prst="rect">
            <a:avLst>
              <a:gd name="adj" fmla="val 8276"/>
            </a:avLst>
          </a:prstGeom>
          <a:solidFill>
            <a:srgbClr val="E0F0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Story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1E00"/>
                </a:solidFill>
              </a:rPr>
              <a:t>60–65%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2670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Instincts reinforced — first skills promoted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1965960" cy="1325880"/>
          </a:xfrm>
          <a:prstGeom prst="rect">
            <a:avLst>
              <a:gd name="adj" fmla="val 8276"/>
            </a:avLst>
          </a:prstGeom>
          <a:solidFill>
            <a:srgbClr val="E6F5EC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Story 5–8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1E00"/>
                </a:solidFill>
              </a:rPr>
              <a:t>70–75%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9160" y="2670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Skills active in coding agent — accuracy jumps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828800"/>
            <a:ext cx="1965960" cy="1325880"/>
          </a:xfrm>
          <a:prstGeom prst="rect">
            <a:avLst>
              <a:gd name="adj" fmla="val 8276"/>
            </a:avLst>
          </a:prstGeom>
          <a:solidFill>
            <a:srgbClr val="DDFAE5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901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Story 10+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176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1E00"/>
                </a:solidFill>
              </a:rPr>
              <a:t>80–85%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26700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8"/>
                </a:solidFill>
              </a:rPr>
              <a:t>Agent matches your team's style — review ~15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337560"/>
            <a:ext cx="850392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Accuracy Progression — Sprint Over Sprint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9BA8"/>
                </a:solidFill>
              </a:rPr>
              <a:t>Sprint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831336"/>
            <a:ext cx="7040880" cy="182880"/>
          </a:xfrm>
          <a:prstGeom prst="rect">
            <a:avLst>
              <a:gd name="adj" fmla="val 25000"/>
            </a:avLst>
          </a:prstGeom>
          <a:solidFill>
            <a:srgbClr val="F0F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3831336"/>
            <a:ext cx="3872484" cy="182880"/>
          </a:xfrm>
          <a:prstGeom prst="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831336"/>
            <a:ext cx="3872484" cy="1828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C3F7"/>
                </a:solidFill>
              </a:rPr>
              <a:t>50–55%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069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9BA8"/>
                </a:solidFill>
              </a:rPr>
              <a:t>Sprint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0" y="4105656"/>
            <a:ext cx="7040880" cy="182880"/>
          </a:xfrm>
          <a:prstGeom prst="rect">
            <a:avLst>
              <a:gd name="adj" fmla="val 25000"/>
            </a:avLst>
          </a:prstGeom>
          <a:solidFill>
            <a:srgbClr val="F0F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1600" y="4105656"/>
            <a:ext cx="4576572" cy="182880"/>
          </a:xfrm>
          <a:prstGeom prst="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4105656"/>
            <a:ext cx="4576572" cy="1828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C3F7"/>
                </a:solidFill>
              </a:rPr>
              <a:t>60–65%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43434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9BA8"/>
                </a:solidFill>
              </a:rPr>
              <a:t>Sprint 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0" y="4379976"/>
            <a:ext cx="7040880" cy="182880"/>
          </a:xfrm>
          <a:prstGeom prst="rect">
            <a:avLst>
              <a:gd name="adj" fmla="val 25000"/>
            </a:avLst>
          </a:prstGeom>
          <a:solidFill>
            <a:srgbClr val="F0F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1600" y="4379976"/>
            <a:ext cx="5280660" cy="182880"/>
          </a:xfrm>
          <a:prstGeom prst="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4379976"/>
            <a:ext cx="5280660" cy="1828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C3F7"/>
                </a:solidFill>
              </a:rPr>
              <a:t>70–75%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46177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9BA8"/>
                </a:solidFill>
              </a:rPr>
              <a:t>Sprint 4+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0" y="4654296"/>
            <a:ext cx="7040880" cy="182880"/>
          </a:xfrm>
          <a:prstGeom prst="rect">
            <a:avLst>
              <a:gd name="adj" fmla="val 25000"/>
            </a:avLst>
          </a:prstGeom>
          <a:solidFill>
            <a:srgbClr val="F0F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71600" y="4654296"/>
            <a:ext cx="5984748" cy="182880"/>
          </a:xfrm>
          <a:prstGeom prst="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0" y="4654296"/>
            <a:ext cx="5984748" cy="1828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C3F7"/>
                </a:solidFill>
              </a:rPr>
              <a:t>80–85%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9BA8"/>
                </a:solidFill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Mortgage IPA — Executive Brief</dc:title>
  <dc:subject>PptxGenJS Presentation</dc:subject>
  <dc:creator>RAKBank Architecture &amp; Engineering</dc:creator>
  <cp:lastModifiedBy>RAKBank Architecture &amp; Engineering</cp:lastModifiedBy>
  <cp:revision>1</cp:revision>
  <dcterms:created xsi:type="dcterms:W3CDTF">2026-04-15T10:59:21Z</dcterms:created>
  <dcterms:modified xsi:type="dcterms:W3CDTF">2026-04-15T10:59:21Z</dcterms:modified>
</cp:coreProperties>
</file>